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5" r:id="rId3"/>
    <p:sldId id="256" r:id="rId4"/>
    <p:sldId id="258" r:id="rId5"/>
    <p:sldId id="262" r:id="rId6"/>
    <p:sldId id="263" r:id="rId7"/>
    <p:sldId id="270" r:id="rId8"/>
    <p:sldId id="271" r:id="rId9"/>
    <p:sldId id="272" r:id="rId10"/>
    <p:sldId id="266" r:id="rId11"/>
    <p:sldId id="279" r:id="rId12"/>
    <p:sldId id="283" r:id="rId13"/>
    <p:sldId id="287" r:id="rId14"/>
    <p:sldId id="288" r:id="rId15"/>
    <p:sldId id="289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33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2.xml"/><Relationship Id="rId4" Type="http://schemas.openxmlformats.org/officeDocument/2006/relationships/image" Target="../media/image1.png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6.xml"/><Relationship Id="rId4" Type="http://schemas.openxmlformats.org/officeDocument/2006/relationships/image" Target="../media/image1.png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80.xml"/><Relationship Id="rId4" Type="http://schemas.openxmlformats.org/officeDocument/2006/relationships/image" Target="../media/image1.png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84.xml"/><Relationship Id="rId4" Type="http://schemas.openxmlformats.org/officeDocument/2006/relationships/image" Target="../media/image1.png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image" Target="../media/image2.png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8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jpeg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04.xml"/><Relationship Id="rId1" Type="http://schemas.openxmlformats.org/officeDocument/2006/relationships/tags" Target="../tags/tag9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6.xml"/><Relationship Id="rId2" Type="http://schemas.openxmlformats.org/officeDocument/2006/relationships/image" Target="../media/image4.png"/><Relationship Id="rId1" Type="http://schemas.openxmlformats.org/officeDocument/2006/relationships/tags" Target="../tags/tag105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9.xml"/><Relationship Id="rId3" Type="http://schemas.openxmlformats.org/officeDocument/2006/relationships/image" Target="../media/image5.png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image" Target="../media/image6.png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111.xml"/><Relationship Id="rId19" Type="http://schemas.openxmlformats.org/officeDocument/2006/relationships/tags" Target="../tags/tag127.xml"/><Relationship Id="rId18" Type="http://schemas.openxmlformats.org/officeDocument/2006/relationships/tags" Target="../tags/tag126.xml"/><Relationship Id="rId17" Type="http://schemas.openxmlformats.org/officeDocument/2006/relationships/tags" Target="../tags/tag125.xml"/><Relationship Id="rId16" Type="http://schemas.openxmlformats.org/officeDocument/2006/relationships/tags" Target="../tags/tag124.xml"/><Relationship Id="rId15" Type="http://schemas.openxmlformats.org/officeDocument/2006/relationships/tags" Target="../tags/tag12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tags" Target="../tags/tag110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30.xml"/><Relationship Id="rId3" Type="http://schemas.openxmlformats.org/officeDocument/2006/relationships/image" Target="../media/image7.png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0" y="0"/>
            <a:ext cx="8413750" cy="1308735"/>
          </a:xfrm>
        </p:spPr>
        <p:txBody>
          <a:bodyPr/>
          <a:p>
            <a:pPr algn="l"/>
            <a:r>
              <a:rPr lang="en-US" altLang="zh-CN"/>
              <a:t>    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1198880" y="1732280"/>
            <a:ext cx="99021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latin typeface="Times New Roman" panose="02020603050405020304" charset="0"/>
                <a:cs typeface="Times New Roman" panose="02020603050405020304" charset="0"/>
              </a:rPr>
              <a:t>Synchronous Sequential Circuits: </a:t>
            </a:r>
            <a:endParaRPr lang="zh-CN" altLang="en-US" sz="4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副标题 8"/>
          <p:cNvSpPr/>
          <p:nvPr>
            <p:ph type="subTitle" idx="1"/>
          </p:nvPr>
        </p:nvSpPr>
        <p:spPr>
          <a:xfrm>
            <a:off x="4718050" y="3345180"/>
            <a:ext cx="6974205" cy="989965"/>
          </a:xfrm>
        </p:spPr>
        <p:txBody>
          <a:bodyPr/>
          <a:p>
            <a:r>
              <a:rPr lang="en-US" altLang="zh-CN"/>
              <a:t>week 3 , part 1/3</a:t>
            </a:r>
            <a:endParaRPr lang="zh-CN" altLang="en-US"/>
          </a:p>
        </p:txBody>
      </p:sp>
      <p:sp>
        <p:nvSpPr>
          <p:cNvPr id="10" name="副标题 8"/>
          <p:cNvSpPr/>
          <p:nvPr>
            <p:custDataLst>
              <p:tags r:id="rId2"/>
            </p:custDataLst>
          </p:nvPr>
        </p:nvSpPr>
        <p:spPr>
          <a:xfrm>
            <a:off x="4718050" y="4233545"/>
            <a:ext cx="6974205" cy="98996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Concept</a:t>
            </a:r>
            <a:r>
              <a:rPr lang="en-US" altLang="zh-CN"/>
              <a:t> part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0" y="0"/>
            <a:ext cx="8413750" cy="1308735"/>
          </a:xfrm>
        </p:spPr>
        <p:txBody>
          <a:bodyPr/>
          <a:p>
            <a:pPr algn="l"/>
            <a:r>
              <a:rPr lang="en-US" altLang="zh-CN"/>
              <a:t>    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799465" y="962025"/>
            <a:ext cx="4593590" cy="487045"/>
          </a:xfrm>
        </p:spPr>
        <p:txBody>
          <a:bodyPr>
            <a:normAutofit lnSpcReduction="10000"/>
          </a:bodyPr>
          <a:p>
            <a:pPr algn="l"/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Introduction &amp; Context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9857105" y="0"/>
            <a:ext cx="2595245" cy="6858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Synchronous 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→ clocked,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deterministic timing, 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easier verification.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Asynchronous </a:t>
            </a:r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→ event-driven, 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fast in small loops but prone to hazards and race conditions.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0" y="5956300"/>
            <a:ext cx="12400280" cy="91694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Synchronous Sequential Circuit = 동기 순차 회로  • State Equation = 상태 방정식 • FF Excitation Equation = 플립플롭 여기식</a:t>
            </a:r>
            <a:endParaRPr lang="zh-CN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8280" y="295275"/>
            <a:ext cx="99021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latin typeface="Times New Roman" panose="02020603050405020304" charset="0"/>
                <a:cs typeface="Times New Roman" panose="02020603050405020304" charset="0"/>
              </a:rPr>
              <a:t>Synchronous Sequential Circuits: </a:t>
            </a:r>
            <a:endParaRPr lang="zh-CN" altLang="en-US" sz="4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0220" y="1449070"/>
            <a:ext cx="9286875" cy="40925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/>
              <a:t>What it is</a:t>
            </a:r>
            <a:r>
              <a:rPr lang="zh-CN" altLang="en-US"/>
              <a:t>. A synchronous sequential circuit is a </a:t>
            </a:r>
            <a:r>
              <a:rPr lang="zh-CN" altLang="en-US" b="1"/>
              <a:t>state-holding</a:t>
            </a:r>
            <a:r>
              <a:rPr lang="zh-CN" altLang="en-US"/>
              <a:t> logic system whose flip-flops update only on a </a:t>
            </a:r>
            <a:r>
              <a:rPr lang="zh-CN" altLang="en-US" sz="2000" b="1"/>
              <a:t>global clock edge</a:t>
            </a:r>
            <a:r>
              <a:rPr lang="zh-CN" altLang="en-US"/>
              <a:t>. Its behavior at the next tick depends on the </a:t>
            </a:r>
            <a:r>
              <a:rPr lang="zh-CN" altLang="en-US" b="1"/>
              <a:t>present state and the current inputs.</a:t>
            </a:r>
            <a:endParaRPr lang="zh-CN" altLang="en-US" b="1"/>
          </a:p>
          <a:p>
            <a:endParaRPr lang="zh-CN" altLang="en-US"/>
          </a:p>
          <a:p>
            <a:r>
              <a:rPr lang="zh-CN" altLang="en-US" sz="2400" b="1"/>
              <a:t>Why it matters</a:t>
            </a:r>
            <a:r>
              <a:rPr lang="zh-CN" altLang="en-US"/>
              <a:t>. Clocked updates make timing deterministic and composable, so large designs can be verified, pipelined, and scaled without surprises from ripple delays.</a:t>
            </a:r>
            <a:endParaRPr lang="zh-CN" altLang="en-US"/>
          </a:p>
          <a:p>
            <a:endParaRPr lang="zh-CN" altLang="en-US"/>
          </a:p>
          <a:p>
            <a:r>
              <a:rPr lang="zh-CN" altLang="en-US" sz="2400" b="1"/>
              <a:t>How we will talk about i</a:t>
            </a:r>
            <a:r>
              <a:rPr lang="zh-CN" altLang="en-US"/>
              <a:t>t. We adopt the course vocabulary—</a:t>
            </a:r>
            <a:r>
              <a:rPr lang="zh-CN" altLang="en-US" b="1"/>
              <a:t>state equation</a:t>
            </a:r>
            <a:r>
              <a:rPr lang="zh-CN" altLang="en-US"/>
              <a:t> and </a:t>
            </a:r>
            <a:r>
              <a:rPr lang="zh-CN" altLang="en-US" b="1"/>
              <a:t>flip-flop excitation equation</a:t>
            </a:r>
            <a:r>
              <a:rPr lang="zh-CN" altLang="en-US"/>
              <a:t>—as the standard way to describe updates and required FF inputs (no derivations here, only terms</a:t>
            </a:r>
            <a:r>
              <a:rPr lang="en-US" altLang="zh-CN"/>
              <a:t>, hints</a:t>
            </a:r>
            <a:r>
              <a:rPr lang="zh-CN" altLang="en-US"/>
              <a:t>).٩( 'ω' )و </a:t>
            </a:r>
            <a:endParaRPr lang="zh-CN" altLang="en-US"/>
          </a:p>
          <a:p>
            <a:endParaRPr lang="zh-CN" altLang="en-US"/>
          </a:p>
          <a:p>
            <a:r>
              <a:rPr lang="zh-CN" altLang="en-US" sz="2400" b="1"/>
              <a:t>Where it lives</a:t>
            </a:r>
            <a:r>
              <a:rPr lang="zh-CN" altLang="en-US"/>
              <a:t>.Typical blocks include </a:t>
            </a:r>
            <a:r>
              <a:rPr lang="zh-CN" altLang="en-US" b="1"/>
              <a:t>registers, counters, shift registers</a:t>
            </a:r>
            <a:r>
              <a:rPr lang="zh-CN" altLang="en-US"/>
              <a:t>, and FSM-based controllers in CPUs, controllers, image sensors, and digital interfaces.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199370" y="495300"/>
            <a:ext cx="31515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Sync</a:t>
            </a:r>
            <a:r>
              <a:rPr lang="zh-CN" altLang="en-US"/>
              <a:t> vs </a:t>
            </a:r>
            <a:r>
              <a:rPr lang="zh-CN" altLang="en-US" b="1"/>
              <a:t>Async</a:t>
            </a:r>
            <a:endParaRPr lang="zh-CN" altLang="en-US" b="1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0" y="0"/>
            <a:ext cx="8413750" cy="1308735"/>
          </a:xfrm>
        </p:spPr>
        <p:txBody>
          <a:bodyPr/>
          <a:p>
            <a:pPr algn="l"/>
            <a:r>
              <a:rPr lang="en-US" altLang="zh-CN"/>
              <a:t>    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799465" y="1063625"/>
            <a:ext cx="9522460" cy="487045"/>
          </a:xfrm>
        </p:spPr>
        <p:txBody>
          <a:bodyPr>
            <a:noAutofit/>
          </a:bodyPr>
          <a:p>
            <a:pPr algn="l"/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Idea: Inputs + Current State → Logic → Next State + Outputs, updated</a:t>
            </a: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on</a:t>
            </a:r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clock</a:t>
            </a:r>
            <a:endParaRPr lang="zh-CN" altLang="en-US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8280" y="295275"/>
            <a:ext cx="99021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latin typeface="Times New Roman" panose="02020603050405020304" charset="0"/>
                <a:cs typeface="Times New Roman" panose="02020603050405020304" charset="0"/>
              </a:rPr>
              <a:t>Core Model</a:t>
            </a:r>
            <a:r>
              <a:rPr lang="en-US" altLang="zh-CN" sz="4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4400">
                <a:latin typeface="Times New Roman" panose="02020603050405020304" charset="0"/>
                <a:cs typeface="Times New Roman" panose="02020603050405020304" charset="0"/>
              </a:rPr>
              <a:t>Structure</a:t>
            </a:r>
            <a:endParaRPr lang="en-US" altLang="zh-CN" sz="4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75000"/>
          </a:blip>
          <a:srcRect r="8373" b="7573"/>
          <a:stretch>
            <a:fillRect/>
          </a:stretch>
        </p:blipFill>
        <p:spPr>
          <a:xfrm>
            <a:off x="109855" y="1471930"/>
            <a:ext cx="5887720" cy="44843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232525" y="1471930"/>
            <a:ext cx="5959475" cy="4338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/>
              <a:t>Main Components</a:t>
            </a:r>
            <a:endParaRPr lang="zh-CN" altLang="en-US" sz="2400" b="1"/>
          </a:p>
          <a:p>
            <a:endParaRPr lang="zh-CN" altLang="en-US"/>
          </a:p>
          <a:p>
            <a:r>
              <a:rPr lang="zh-CN" altLang="en-US"/>
              <a:t>Combinational Logic (CL): Processes current state Q and input X, produces two results: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Y: functional output to the outside.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E (Excitation / Next State): input to memory, decides the next state.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Memory (Flip-Flops, Q): Stores the present state. Updates only at the clock edge.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Clock (clk): Single timing reference, triggers all flip-flops at the same moment.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0" y="0"/>
            <a:ext cx="8413750" cy="1308735"/>
          </a:xfrm>
        </p:spPr>
        <p:txBody>
          <a:bodyPr/>
          <a:p>
            <a:pPr algn="l"/>
            <a:r>
              <a:rPr lang="en-US" altLang="zh-CN"/>
              <a:t>    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67055" y="821690"/>
            <a:ext cx="9522460" cy="487045"/>
          </a:xfrm>
        </p:spPr>
        <p:txBody>
          <a:bodyPr>
            <a:noAutofit/>
          </a:bodyPr>
          <a:p>
            <a:pPr algn="l"/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Idea: Inputs + Current State → Logic → Next State + Outputs, updated</a:t>
            </a: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on</a:t>
            </a:r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clock</a:t>
            </a:r>
            <a:endParaRPr lang="zh-CN" altLang="en-US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2735" y="160655"/>
            <a:ext cx="99021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latin typeface="Times New Roman" panose="02020603050405020304" charset="0"/>
                <a:cs typeface="Times New Roman" panose="02020603050405020304" charset="0"/>
              </a:rPr>
              <a:t>Core Model</a:t>
            </a:r>
            <a:r>
              <a:rPr lang="en-US" altLang="zh-CN" sz="4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4400">
                <a:latin typeface="Times New Roman" panose="02020603050405020304" charset="0"/>
                <a:cs typeface="Times New Roman" panose="02020603050405020304" charset="0"/>
              </a:rPr>
              <a:t>Structure</a:t>
            </a:r>
            <a:endParaRPr lang="en-US" altLang="zh-CN" sz="4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75000"/>
          </a:blip>
          <a:srcRect r="8373" b="7573"/>
          <a:stretch>
            <a:fillRect/>
          </a:stretch>
        </p:blipFill>
        <p:spPr>
          <a:xfrm>
            <a:off x="109855" y="1308735"/>
            <a:ext cx="5887720" cy="44843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173470" y="1471930"/>
            <a:ext cx="6142355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Why this wiring?</a:t>
            </a:r>
            <a:endParaRPr lang="zh-CN" altLang="en-US" b="1"/>
          </a:p>
          <a:p>
            <a:r>
              <a:rPr lang="zh-CN" altLang="en-US"/>
              <a:t>Clock only to Memory: Clock defines when state changes. Logic is free-running, memory locks values at edges. If the clock drives logic, transparency and hazards occur.</a:t>
            </a:r>
            <a:endParaRPr lang="zh-CN" altLang="en-US"/>
          </a:p>
          <a:p>
            <a:r>
              <a:rPr lang="zh-CN" altLang="en-US"/>
              <a:t>Feedback (Q → CL): Ensures outputs depend on both inputs and history (state).</a:t>
            </a:r>
            <a:endParaRPr lang="zh-CN" altLang="en-US"/>
          </a:p>
          <a:p>
            <a:r>
              <a:rPr lang="zh-CN" altLang="en-US" b="1"/>
              <a:t>Two outputs (Y and E):</a:t>
            </a:r>
            <a:endParaRPr lang="zh-CN" altLang="en-US" b="1"/>
          </a:p>
          <a:p>
            <a:r>
              <a:rPr lang="zh-CN" altLang="en-US"/>
              <a:t>Y = what the system shows to the outside.</a:t>
            </a:r>
            <a:endParaRPr lang="zh-CN" altLang="en-US"/>
          </a:p>
          <a:p>
            <a:r>
              <a:rPr lang="zh-CN" altLang="en-US"/>
              <a:t>E = what the system uses internally to decide the next state.</a:t>
            </a:r>
            <a:endParaRPr lang="zh-CN" altLang="en-US"/>
          </a:p>
          <a:p>
            <a:r>
              <a:rPr lang="zh-CN" altLang="en-US"/>
              <a:t>Example: In a counter, E = Q+1 (next count), Y = Q (current count</a:t>
            </a:r>
            <a:endParaRPr lang="zh-CN" altLang="en-US"/>
          </a:p>
          <a:p>
            <a:r>
              <a:rPr lang="zh-CN" altLang="en-US" b="1"/>
              <a:t>Output Styles</a:t>
            </a:r>
            <a:endParaRPr lang="zh-CN" altLang="en-US" b="1"/>
          </a:p>
          <a:p>
            <a:r>
              <a:rPr lang="en-US" altLang="zh-CN"/>
              <a:t>M</a:t>
            </a:r>
            <a:r>
              <a:rPr lang="zh-CN" altLang="en-US"/>
              <a:t>ealy model: Y depends on inputs and state → Y = G(X,Q).</a:t>
            </a:r>
            <a:endParaRPr lang="zh-CN" altLang="en-US"/>
          </a:p>
          <a:p>
            <a:r>
              <a:rPr lang="zh-CN" altLang="en-US"/>
              <a:t>Moore model: Y depends only on state → Y = H(Q).</a:t>
            </a:r>
            <a:endParaRPr lang="zh-CN" altLang="en-US"/>
          </a:p>
          <a:p>
            <a:r>
              <a:rPr lang="zh-CN" altLang="en-US"/>
              <a:t>Both are standard ways to define synchronous sequential circuits.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0" y="0"/>
            <a:ext cx="8413750" cy="1308735"/>
          </a:xfrm>
        </p:spPr>
        <p:txBody>
          <a:bodyPr/>
          <a:p>
            <a:pPr algn="l"/>
            <a:r>
              <a:rPr lang="en-US" altLang="zh-CN"/>
              <a:t>    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3577590" y="441960"/>
            <a:ext cx="9522460" cy="487045"/>
          </a:xfrm>
        </p:spPr>
        <p:txBody>
          <a:bodyPr>
            <a:noAutofit/>
          </a:bodyPr>
          <a:p>
            <a:pPr algn="l"/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Inputs + Current State → Logic → Next State + Outputs, updated</a:t>
            </a: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on</a:t>
            </a:r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clock</a:t>
            </a:r>
            <a:endParaRPr lang="zh-CN" altLang="en-US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2735" y="160655"/>
            <a:ext cx="99021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>
                <a:latin typeface="Times New Roman" panose="02020603050405020304" charset="0"/>
                <a:cs typeface="Times New Roman" panose="02020603050405020304" charset="0"/>
              </a:rPr>
              <a:t>how it work</a:t>
            </a:r>
            <a:endParaRPr lang="en-US" altLang="zh-CN" sz="4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75000"/>
          </a:blip>
          <a:srcRect r="8373" b="7573"/>
          <a:stretch>
            <a:fillRect/>
          </a:stretch>
        </p:blipFill>
        <p:spPr>
          <a:xfrm>
            <a:off x="109855" y="1308735"/>
            <a:ext cx="5404485" cy="50412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591810" y="929005"/>
            <a:ext cx="6724015" cy="5908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Data lanes (what moves where)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State lane: Q → CL → E(NS) → FF → Q (state evolves, fed back).</a:t>
            </a:r>
            <a:endParaRPr lang="zh-CN" altLang="en-US"/>
          </a:p>
          <a:p>
            <a:r>
              <a:rPr lang="zh-CN" altLang="en-US"/>
              <a:t>Output lane: X,Q → CL → Y (what the outside sees).</a:t>
            </a:r>
            <a:endParaRPr lang="zh-CN" altLang="en-US"/>
          </a:p>
          <a:p>
            <a:r>
              <a:rPr lang="zh-CN" altLang="en-US"/>
              <a:t>Clock lane: clk → all FFs (one global commit event).</a:t>
            </a:r>
            <a:endParaRPr lang="zh-CN" altLang="en-US"/>
          </a:p>
          <a:p>
            <a:endParaRPr lang="zh-CN" altLang="en-US" b="1"/>
          </a:p>
          <a:p>
            <a:r>
              <a:rPr lang="zh-CN" altLang="en-US" b="1"/>
              <a:t>One clock cycle (k → k+1)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After edge k: All flip-flops expose Q[k]. CL starts rcomputing E[k→] and Y[k→] from X &amp; Q[k].</a:t>
            </a:r>
            <a:endParaRPr lang="zh-CN" altLang="en-US"/>
          </a:p>
          <a:p>
            <a:r>
              <a:rPr lang="zh-CN" altLang="en-US"/>
              <a:t>Within the cycle: X may change; CL is free-running and updates tentative E and Y. Glitches are allowed here; nothing is committed yet.</a:t>
            </a:r>
            <a:endParaRPr lang="zh-CN" altLang="en-US"/>
          </a:p>
          <a:p>
            <a:r>
              <a:rPr lang="zh-CN" altLang="en-US"/>
              <a:t>Setup window before edge k+1: E must have settled long enough for FFs to safely sample.</a:t>
            </a:r>
            <a:endParaRPr lang="zh-CN" altLang="en-US"/>
          </a:p>
          <a:p>
            <a:r>
              <a:rPr lang="zh-CN" altLang="en-US"/>
              <a:t>At edge k+1 (commit): FFs sample E → Q[k+1]. All state bits update at the same instant.</a:t>
            </a:r>
            <a:endParaRPr lang="zh-CN" altLang="en-US"/>
          </a:p>
          <a:p>
            <a:r>
              <a:rPr lang="zh-CN" altLang="en-US"/>
              <a:t>Feedback: New Q[k+1] feeds CL; the process repeats for the next cycle.</a:t>
            </a:r>
            <a:endParaRPr lang="zh-CN" altLang="en-US"/>
          </a:p>
          <a:p>
            <a:endParaRPr lang="zh-CN" altLang="en-US" b="1"/>
          </a:p>
        </p:txBody>
      </p: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0" y="0"/>
            <a:ext cx="8413750" cy="1308735"/>
          </a:xfrm>
        </p:spPr>
        <p:txBody>
          <a:bodyPr/>
          <a:p>
            <a:pPr algn="l"/>
            <a:r>
              <a:rPr lang="en-US" altLang="zh-CN"/>
              <a:t>    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3577590" y="441960"/>
            <a:ext cx="9522460" cy="487045"/>
          </a:xfrm>
        </p:spPr>
        <p:txBody>
          <a:bodyPr>
            <a:noAutofit/>
          </a:bodyPr>
          <a:p>
            <a:pPr algn="l"/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Inputs + Current State → Logic → Next State + Outputs, updated</a:t>
            </a: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on</a:t>
            </a:r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clock</a:t>
            </a:r>
            <a:endParaRPr lang="zh-CN" altLang="en-US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2735" y="160655"/>
            <a:ext cx="99021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>
                <a:latin typeface="Times New Roman" panose="02020603050405020304" charset="0"/>
                <a:cs typeface="Times New Roman" panose="02020603050405020304" charset="0"/>
              </a:rPr>
              <a:t>how it work</a:t>
            </a:r>
            <a:endParaRPr lang="en-US" altLang="zh-CN" sz="4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75000"/>
          </a:blip>
          <a:srcRect r="8373" b="7573"/>
          <a:stretch>
            <a:fillRect/>
          </a:stretch>
        </p:blipFill>
        <p:spPr>
          <a:xfrm>
            <a:off x="109855" y="1308735"/>
            <a:ext cx="5404485" cy="50412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591810" y="929005"/>
            <a:ext cx="6724015" cy="5908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Why the clock drives only Memory</a:t>
            </a:r>
            <a:endParaRPr lang="zh-CN" altLang="en-US" b="1"/>
          </a:p>
          <a:p>
            <a:endParaRPr lang="zh-CN" altLang="en-US" b="1"/>
          </a:p>
          <a:p>
            <a:r>
              <a:rPr lang="zh-CN" altLang="en-US"/>
              <a:t>The clock defines when the system commits a new state; CL defines what that state should be.</a:t>
            </a:r>
            <a:endParaRPr lang="zh-CN" altLang="en-US"/>
          </a:p>
          <a:p>
            <a:r>
              <a:rPr lang="zh-CN" altLang="en-US"/>
              <a:t>Clocking gates would create transparency/hazards; clocking FFs keeps updates atomic and analyzable.</a:t>
            </a:r>
            <a:endParaRPr lang="zh-CN" altLang="en-US"/>
          </a:p>
          <a:p>
            <a:r>
              <a:rPr lang="zh-CN" altLang="en-US" b="1"/>
              <a:t>Why two results from CL (Y vs E)</a:t>
            </a:r>
            <a:endParaRPr lang="zh-CN" altLang="en-US" b="1"/>
          </a:p>
          <a:p>
            <a:r>
              <a:rPr lang="zh-CN" altLang="en-US"/>
              <a:t>E (Next-State / Excitation):</a:t>
            </a:r>
            <a:r>
              <a:rPr lang="zh-CN" altLang="en-US" b="1"/>
              <a:t> internal</a:t>
            </a:r>
            <a:r>
              <a:rPr lang="zh-CN" altLang="en-US"/>
              <a:t>, drives FF inputs—decides the future.</a:t>
            </a:r>
            <a:endParaRPr lang="zh-CN" altLang="en-US"/>
          </a:p>
          <a:p>
            <a:r>
              <a:rPr lang="zh-CN" altLang="en-US"/>
              <a:t>Y (Functional output): </a:t>
            </a:r>
            <a:r>
              <a:rPr lang="zh-CN" altLang="en-US" b="1"/>
              <a:t>external</a:t>
            </a:r>
            <a:r>
              <a:rPr lang="zh-CN" altLang="en-US"/>
              <a:t>, expresses the current function.</a:t>
            </a:r>
            <a:endParaRPr lang="zh-CN" altLang="en-US" b="1"/>
          </a:p>
          <a:p>
            <a:r>
              <a:rPr lang="zh-CN" altLang="en-US"/>
              <a:t>Example: counter → E = Q + 1 (next count), Y = Q (current count).</a:t>
            </a:r>
            <a:endParaRPr lang="zh-CN" altLang="en-US"/>
          </a:p>
          <a:p>
            <a:endParaRPr lang="zh-CN" altLang="en-US" b="1"/>
          </a:p>
          <a:p>
            <a:r>
              <a:rPr lang="zh-CN" altLang="en-US" b="1"/>
              <a:t>Output styles in practice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Mealy: Y is taken directly from CL </a:t>
            </a:r>
            <a:r>
              <a:rPr lang="zh-CN" altLang="en-US" b="1"/>
              <a:t>(depends on X &amp; Q),</a:t>
            </a:r>
            <a:r>
              <a:rPr lang="zh-CN" altLang="en-US"/>
              <a:t> may change within the cycle; register it if the interface needs edge-aligned stability.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Moore: Y is decoded from</a:t>
            </a:r>
            <a:r>
              <a:rPr lang="zh-CN" altLang="en-US" b="1"/>
              <a:t> Q only</a:t>
            </a:r>
            <a:r>
              <a:rPr lang="zh-CN" altLang="en-US"/>
              <a:t>; it changes on clock edges by construction.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0" y="0"/>
            <a:ext cx="8413750" cy="1308735"/>
          </a:xfrm>
        </p:spPr>
        <p:txBody>
          <a:bodyPr/>
          <a:p>
            <a:pPr algn="l"/>
            <a:r>
              <a:rPr lang="en-US" altLang="zh-CN"/>
              <a:t>    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109855" y="160655"/>
            <a:ext cx="457708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>
                <a:latin typeface="Times New Roman" panose="02020603050405020304" charset="0"/>
                <a:cs typeface="Times New Roman" panose="02020603050405020304" charset="0"/>
              </a:rPr>
              <a:t>Key Characteristics </a:t>
            </a:r>
            <a:endParaRPr lang="en-US" altLang="zh-CN" sz="4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1455" y="929005"/>
            <a:ext cx="11485245" cy="5354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Free-Running Logic</a:t>
            </a:r>
            <a:endParaRPr lang="zh-CN" altLang="en-US"/>
          </a:p>
          <a:p>
            <a:r>
              <a:rPr lang="zh-CN" altLang="en-US"/>
              <a:t>Combinational logic continuously responds to changes in inputs (X) and present state (Q). Its results (Y, E) may fluctuate during the cycle.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Edge-Defined Validity</a:t>
            </a:r>
            <a:endParaRPr lang="zh-CN" altLang="en-US"/>
          </a:p>
          <a:p>
            <a:r>
              <a:rPr lang="zh-CN" altLang="en-US"/>
              <a:t>Only the values present at the active clock edge are committed into memory. All intermediate fluctuations are ignored as transients.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Input Timing Constraints (Setup / Hold)</a:t>
            </a:r>
            <a:endParaRPr lang="zh-CN" altLang="en-US"/>
          </a:p>
          <a:p>
            <a:r>
              <a:rPr lang="zh-CN" altLang="en-US"/>
              <a:t>Inputs must remain stable for a short period before and after the clock edge to ensure reliable sampling.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Deterministic State Evolution</a:t>
            </a:r>
            <a:endParaRPr lang="zh-CN" altLang="en-US"/>
          </a:p>
          <a:p>
            <a:r>
              <a:rPr lang="zh-CN" altLang="en-US"/>
              <a:t>Every cycle follows a predictable pattern:</a:t>
            </a:r>
            <a:endParaRPr lang="zh-CN" altLang="en-US"/>
          </a:p>
          <a:p>
            <a:r>
              <a:rPr lang="zh-CN" altLang="en-US"/>
              <a:t>Q[k] → CL → E → FF → Q[k+1].</a:t>
            </a:r>
            <a:endParaRPr lang="zh-CN" altLang="en-US"/>
          </a:p>
          <a:p>
            <a:r>
              <a:rPr lang="zh-CN" altLang="en-US"/>
              <a:t>This makes analysis and verification systematic.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Reset / initialization semantics </a:t>
            </a:r>
            <a:endParaRPr lang="zh-CN" altLang="en-US"/>
          </a:p>
          <a:p>
            <a:r>
              <a:rPr lang="zh-CN" altLang="en-US"/>
              <a:t>A well-defined reset (sync or async) places the machine in a known initial state before edge-driven operation. Optional enable gates state updates by qualifying the E → Q commit.</a:t>
            </a:r>
            <a:endParaRPr lang="zh-CN" altLang="en-US"/>
          </a:p>
        </p:txBody>
      </p:sp>
      <p:sp>
        <p:nvSpPr>
          <p:cNvPr id="8" name="圆角矩形 7"/>
          <p:cNvSpPr/>
          <p:nvPr>
            <p:custDataLst>
              <p:tags r:id="rId2"/>
            </p:custDataLst>
          </p:nvPr>
        </p:nvSpPr>
        <p:spPr>
          <a:xfrm>
            <a:off x="0" y="6283325"/>
            <a:ext cx="12400280" cy="91694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Setup / Hold Time = 셋업 / 홀드 시간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Deterministic = 결정적</a:t>
            </a:r>
            <a:endParaRPr lang="zh-CN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9855" y="160655"/>
            <a:ext cx="245618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>
                <a:latin typeface="Times New Roman" panose="02020603050405020304" charset="0"/>
                <a:cs typeface="Times New Roman" panose="02020603050405020304" charset="0"/>
              </a:rPr>
              <a:t>Example</a:t>
            </a:r>
            <a:endParaRPr lang="en-US" altLang="zh-CN" sz="4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77770" y="3765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 spc="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Register (D Flip-Flop Bank)</a:t>
            </a:r>
            <a:endParaRPr lang="zh-CN" altLang="en-US" sz="1600" b="1" spc="2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50490" y="1520190"/>
            <a:ext cx="1748790" cy="11404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0" cmpd="sng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325245" y="1978660"/>
            <a:ext cx="120142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68630" y="1520190"/>
            <a:ext cx="1920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input (data)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147695" y="1003300"/>
            <a:ext cx="978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1771650" y="28092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 this case there are no actual logic</a:t>
            </a:r>
            <a:endParaRPr lang="en-US" altLang="zh-CN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4546600" y="1706245"/>
            <a:ext cx="45847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190490" y="1577340"/>
            <a:ext cx="1834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output data</a:t>
            </a:r>
            <a:endParaRPr lang="en-US" altLang="zh-CN"/>
          </a:p>
        </p:txBody>
      </p:sp>
      <p:cxnSp>
        <p:nvCxnSpPr>
          <p:cNvPr id="20" name="直接连接符 19"/>
          <p:cNvCxnSpPr/>
          <p:nvPr/>
        </p:nvCxnSpPr>
        <p:spPr>
          <a:xfrm>
            <a:off x="2613660" y="1978660"/>
            <a:ext cx="1833880" cy="4089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4509135" y="2350770"/>
            <a:ext cx="1251585" cy="1358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>
            <p:custDataLst>
              <p:tags r:id="rId1"/>
            </p:custDataLst>
          </p:nvPr>
        </p:nvCxnSpPr>
        <p:spPr>
          <a:xfrm flipH="1">
            <a:off x="5757545" y="2486660"/>
            <a:ext cx="3175" cy="1397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>
            <p:custDataLst>
              <p:tags r:id="rId2"/>
            </p:custDataLst>
          </p:nvPr>
        </p:nvCxnSpPr>
        <p:spPr>
          <a:xfrm flipV="1">
            <a:off x="4546600" y="3883660"/>
            <a:ext cx="121412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>
            <p:custDataLst>
              <p:tags r:id="rId3"/>
            </p:custDataLst>
          </p:nvPr>
        </p:nvSpPr>
        <p:spPr>
          <a:xfrm>
            <a:off x="2797810" y="3326130"/>
            <a:ext cx="1748790" cy="11404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0" cmpd="sng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 spc="2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D Flip-Flop</a:t>
            </a:r>
            <a:endParaRPr lang="zh-CN" altLang="en-US" b="1" spc="2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4"/>
            </p:custDataLst>
          </p:nvPr>
        </p:nvCxnSpPr>
        <p:spPr>
          <a:xfrm flipH="1">
            <a:off x="1543685" y="2613660"/>
            <a:ext cx="3175" cy="1397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5"/>
            </p:custDataLst>
          </p:nvPr>
        </p:nvCxnSpPr>
        <p:spPr>
          <a:xfrm flipV="1">
            <a:off x="1521460" y="4008120"/>
            <a:ext cx="121412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6"/>
            </p:custDataLst>
          </p:nvPr>
        </p:nvCxnSpPr>
        <p:spPr>
          <a:xfrm flipV="1">
            <a:off x="1546860" y="1718310"/>
            <a:ext cx="2999740" cy="8661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>
            <p:custDataLst>
              <p:tags r:id="rId7"/>
            </p:custDataLst>
          </p:nvPr>
        </p:nvCxnSpPr>
        <p:spPr>
          <a:xfrm flipH="1">
            <a:off x="3635375" y="4466590"/>
            <a:ext cx="3175" cy="4178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3340100" y="4884420"/>
            <a:ext cx="593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clk</a:t>
            </a:r>
            <a:endParaRPr lang="en-US" altLang="zh-CN"/>
          </a:p>
        </p:txBody>
      </p:sp>
      <p:pic>
        <p:nvPicPr>
          <p:cNvPr id="100" name="图片 99"/>
          <p:cNvPicPr/>
          <p:nvPr/>
        </p:nvPicPr>
        <p:blipFill>
          <a:blip r:embed="rId8"/>
          <a:stretch>
            <a:fillRect/>
          </a:stretch>
        </p:blipFill>
        <p:spPr>
          <a:xfrm>
            <a:off x="6094095" y="2125980"/>
            <a:ext cx="5874385" cy="35179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9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9855" y="160655"/>
            <a:ext cx="245618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>
                <a:latin typeface="Times New Roman" panose="02020603050405020304" charset="0"/>
                <a:cs typeface="Times New Roman" panose="02020603050405020304" charset="0"/>
              </a:rPr>
              <a:t>Example</a:t>
            </a:r>
            <a:endParaRPr lang="en-US" altLang="zh-CN" sz="4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77770" y="37655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spc="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Register </a:t>
            </a:r>
            <a:r>
              <a:rPr lang="en-US" altLang="zh-CN" sz="2400" b="1" spc="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4bits</a:t>
            </a:r>
            <a:endParaRPr lang="en-US" altLang="zh-CN" sz="2400" b="1" spc="2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50490" y="1346200"/>
            <a:ext cx="1748790" cy="11404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0" cmpd="sng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MUX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521460" y="1745615"/>
            <a:ext cx="120142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09855" y="1827530"/>
            <a:ext cx="1920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input (data)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147695" y="1003300"/>
            <a:ext cx="978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</a:t>
            </a:r>
            <a:endParaRPr lang="en-US" altLang="zh-CN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4848860" y="1669415"/>
            <a:ext cx="45847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190490" y="1459230"/>
            <a:ext cx="1834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output data</a:t>
            </a:r>
            <a:endParaRPr lang="en-US" altLang="zh-CN"/>
          </a:p>
        </p:txBody>
      </p:sp>
      <p:cxnSp>
        <p:nvCxnSpPr>
          <p:cNvPr id="21" name="直接连接符 20"/>
          <p:cNvCxnSpPr/>
          <p:nvPr/>
        </p:nvCxnSpPr>
        <p:spPr>
          <a:xfrm>
            <a:off x="4452620" y="2350770"/>
            <a:ext cx="1251585" cy="1358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>
            <p:custDataLst>
              <p:tags r:id="rId1"/>
            </p:custDataLst>
          </p:nvPr>
        </p:nvCxnSpPr>
        <p:spPr>
          <a:xfrm flipH="1">
            <a:off x="5757545" y="2486660"/>
            <a:ext cx="3175" cy="1397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>
            <p:custDataLst>
              <p:tags r:id="rId2"/>
            </p:custDataLst>
          </p:nvPr>
        </p:nvCxnSpPr>
        <p:spPr>
          <a:xfrm flipV="1">
            <a:off x="4546600" y="3883660"/>
            <a:ext cx="121412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>
            <p:custDataLst>
              <p:tags r:id="rId3"/>
            </p:custDataLst>
          </p:nvPr>
        </p:nvSpPr>
        <p:spPr>
          <a:xfrm>
            <a:off x="2797810" y="3326130"/>
            <a:ext cx="1748790" cy="11404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0" cmpd="sng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spc="2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FF</a:t>
            </a:r>
            <a:endParaRPr lang="en-US" altLang="zh-CN" b="1" spc="2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4"/>
            </p:custDataLst>
          </p:nvPr>
        </p:nvCxnSpPr>
        <p:spPr>
          <a:xfrm flipH="1">
            <a:off x="1543685" y="2613660"/>
            <a:ext cx="3175" cy="1397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5"/>
            </p:custDataLst>
          </p:nvPr>
        </p:nvCxnSpPr>
        <p:spPr>
          <a:xfrm flipV="1">
            <a:off x="1521460" y="4008120"/>
            <a:ext cx="121412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>
            <p:custDataLst>
              <p:tags r:id="rId6"/>
            </p:custDataLst>
          </p:nvPr>
        </p:nvCxnSpPr>
        <p:spPr>
          <a:xfrm flipH="1">
            <a:off x="3635375" y="4466590"/>
            <a:ext cx="3175" cy="4178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3340100" y="4884420"/>
            <a:ext cx="593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clk</a:t>
            </a:r>
            <a:endParaRPr lang="en-US" altLang="zh-CN"/>
          </a:p>
        </p:txBody>
      </p:sp>
      <p:cxnSp>
        <p:nvCxnSpPr>
          <p:cNvPr id="30" name="直接箭头连接符 29"/>
          <p:cNvCxnSpPr/>
          <p:nvPr>
            <p:custDataLst>
              <p:tags r:id="rId7"/>
            </p:custDataLst>
          </p:nvPr>
        </p:nvCxnSpPr>
        <p:spPr>
          <a:xfrm>
            <a:off x="1452245" y="2105660"/>
            <a:ext cx="120142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395605" y="1459230"/>
            <a:ext cx="1350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s0 s1</a:t>
            </a:r>
            <a:endParaRPr lang="zh-CN" altLang="en-US"/>
          </a:p>
        </p:txBody>
      </p:sp>
      <p:cxnSp>
        <p:nvCxnSpPr>
          <p:cNvPr id="32" name="直接箭头连接符 31"/>
          <p:cNvCxnSpPr/>
          <p:nvPr>
            <p:custDataLst>
              <p:tags r:id="rId8"/>
            </p:custDataLst>
          </p:nvPr>
        </p:nvCxnSpPr>
        <p:spPr>
          <a:xfrm>
            <a:off x="1452245" y="1409700"/>
            <a:ext cx="120142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246380" y="1153160"/>
            <a:ext cx="1300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SRinS</a:t>
            </a:r>
            <a:r>
              <a:rPr lang="en-US" altLang="zh-CN"/>
              <a:t>L</a:t>
            </a:r>
            <a:r>
              <a:rPr lang="zh-CN" altLang="en-US"/>
              <a:t>in</a:t>
            </a:r>
            <a:endParaRPr lang="zh-CN" altLang="en-US"/>
          </a:p>
        </p:txBody>
      </p:sp>
      <p:cxnSp>
        <p:nvCxnSpPr>
          <p:cNvPr id="37" name="直接箭头连接符 36"/>
          <p:cNvCxnSpPr/>
          <p:nvPr/>
        </p:nvCxnSpPr>
        <p:spPr>
          <a:xfrm flipV="1">
            <a:off x="1498600" y="1656715"/>
            <a:ext cx="3320415" cy="97853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4399280" y="1883410"/>
            <a:ext cx="24784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s1 s0 Mode Selection Tablet</a:t>
            </a:r>
            <a:endParaRPr lang="en-US" altLang="zh-CN"/>
          </a:p>
        </p:txBody>
      </p:sp>
      <p:pic>
        <p:nvPicPr>
          <p:cNvPr id="101" name="图片 100"/>
          <p:cNvPicPr/>
          <p:nvPr/>
        </p:nvPicPr>
        <p:blipFill>
          <a:blip r:embed="rId9"/>
          <a:stretch>
            <a:fillRect/>
          </a:stretch>
        </p:blipFill>
        <p:spPr>
          <a:xfrm>
            <a:off x="6698615" y="0"/>
            <a:ext cx="5364480" cy="784161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0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0" y="0"/>
            <a:ext cx="8413750" cy="1308735"/>
          </a:xfrm>
        </p:spPr>
        <p:txBody>
          <a:bodyPr/>
          <a:p>
            <a:pPr algn="l"/>
            <a:r>
              <a:rPr lang="en-US" altLang="zh-CN"/>
              <a:t>    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208280" y="295275"/>
            <a:ext cx="111658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Application: Conway’s Game of Life</a:t>
            </a:r>
            <a:endParaRPr lang="zh-CN" altLang="en-US" sz="4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8915" y="1195705"/>
            <a:ext cx="7053580" cy="5279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/>
          </a:p>
          <a:p>
            <a:r>
              <a:rPr lang="zh-CN" altLang="en-US" sz="2400" b="1"/>
              <a:t>Rules of the Game</a:t>
            </a:r>
            <a:endParaRPr lang="zh-CN" altLang="en-US" sz="2400" b="1"/>
          </a:p>
          <a:p>
            <a:endParaRPr lang="zh-CN" altLang="en-US"/>
          </a:p>
          <a:p>
            <a:r>
              <a:rPr lang="zh-CN" altLang="en-US"/>
              <a:t>Each cell is either Alive (1) or Dead (0).</a:t>
            </a:r>
            <a:endParaRPr lang="zh-CN" altLang="en-US"/>
          </a:p>
          <a:p>
            <a:r>
              <a:rPr lang="zh-CN" altLang="en-US"/>
              <a:t>Each cell has 8 neighbors (Moore neighborhood).</a:t>
            </a:r>
            <a:endParaRPr lang="zh-CN" altLang="en-US"/>
          </a:p>
          <a:p>
            <a:r>
              <a:rPr lang="zh-CN" altLang="en-US"/>
              <a:t>Updates happen synchronously across the grid.</a:t>
            </a:r>
            <a:endParaRPr lang="zh-CN" altLang="en-US"/>
          </a:p>
          <a:p>
            <a:endParaRPr lang="zh-CN" altLang="en-US"/>
          </a:p>
          <a:p>
            <a:r>
              <a:rPr lang="zh-CN" altLang="en-US" sz="2400"/>
              <a:t>Transition rules:</a:t>
            </a:r>
            <a:endParaRPr lang="zh-CN" altLang="en-US" sz="2400"/>
          </a:p>
          <a:p>
            <a:endParaRPr lang="zh-CN" altLang="en-US"/>
          </a:p>
          <a:p>
            <a:r>
              <a:rPr lang="zh-CN" altLang="en-US"/>
              <a:t>Alive with &lt;2 neighbors → Dies (underpopulation).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Alive with 2 or 3 neighbors → Survives.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Alive with &gt;3 neighbors → Dies (overcrowding).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Dead with exactly 3 neighbors → Becomes Alive (reproduction).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974840" y="2858135"/>
            <a:ext cx="5217160" cy="3999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/>
              <a:t>Why we use this as an application</a:t>
            </a:r>
            <a:endParaRPr lang="zh-CN" altLang="en-US" sz="2000"/>
          </a:p>
          <a:p>
            <a:endParaRPr lang="zh-CN" altLang="en-US"/>
          </a:p>
          <a:p>
            <a:r>
              <a:rPr lang="zh-CN" altLang="en-US"/>
              <a:t>It is a clear real-world analogy of synchronous sequential circuits:</a:t>
            </a:r>
            <a:endParaRPr lang="zh-CN" altLang="en-US"/>
          </a:p>
          <a:p>
            <a:r>
              <a:rPr lang="zh-CN" altLang="en-US"/>
              <a:t>The present state is the current grid.</a:t>
            </a:r>
            <a:endParaRPr lang="zh-CN" altLang="en-US"/>
          </a:p>
          <a:p>
            <a:r>
              <a:rPr lang="zh-CN" altLang="en-US"/>
              <a:t>The combinational logic (CL) is the neighbor-count + rule logic.</a:t>
            </a:r>
            <a:endParaRPr lang="zh-CN" altLang="en-US"/>
          </a:p>
          <a:p>
            <a:r>
              <a:rPr lang="zh-CN" altLang="en-US"/>
              <a:t>The next state (E) is the new grid.</a:t>
            </a:r>
            <a:endParaRPr lang="zh-CN" altLang="en-US"/>
          </a:p>
          <a:p>
            <a:r>
              <a:rPr lang="zh-CN" altLang="en-US"/>
              <a:t>Th flip-flop bank (Q) stores the entire board.</a:t>
            </a:r>
            <a:endParaRPr lang="zh-CN" altLang="en-US"/>
          </a:p>
          <a:p>
            <a:r>
              <a:rPr lang="zh-CN" altLang="en-US"/>
              <a:t>The clock updates all cells simultaneously → one “generation” per tick.</a:t>
            </a:r>
            <a:endParaRPr lang="zh-CN" altLang="en-US"/>
          </a:p>
          <a:p>
            <a:r>
              <a:rPr lang="zh-CN" altLang="en-US"/>
              <a:t>This example shows how abstract rules can be directly mapped to hardware circuits using the synchronous model.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7068185" y="1120775"/>
            <a:ext cx="3982720" cy="1679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9403715" y="69469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https://conwaylife.com/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0" y="0"/>
            <a:ext cx="8413750" cy="1308735"/>
          </a:xfrm>
        </p:spPr>
        <p:txBody>
          <a:bodyPr/>
          <a:p>
            <a:pPr algn="l"/>
            <a:r>
              <a:rPr lang="en-US" altLang="zh-CN"/>
              <a:t>    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208280" y="295275"/>
            <a:ext cx="111658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Application: Conway’s Game of Life</a:t>
            </a:r>
            <a:endParaRPr lang="zh-CN" altLang="en-US" sz="4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9220" y="1308735"/>
            <a:ext cx="6469380" cy="5279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b="1"/>
              <a:t>From the rules to one equation</a:t>
            </a:r>
            <a:endParaRPr lang="zh-CN" altLang="en-US" sz="2400" b="1"/>
          </a:p>
          <a:p>
            <a:r>
              <a:rPr lang="zh-CN" altLang="en-US"/>
              <a:t>Given the Game-of-Life rules, the next state of a cell is:</a:t>
            </a:r>
            <a:endParaRPr lang="zh-CN" altLang="en-US"/>
          </a:p>
          <a:p>
            <a:pPr algn="ctr"/>
            <a:r>
              <a:rPr lang="zh-CN" altLang="en-US" sz="2400" b="1"/>
              <a:t>E=(N=</a:t>
            </a:r>
            <a:r>
              <a:rPr lang="en-US" altLang="zh-CN" sz="2400" b="1"/>
              <a:t>=</a:t>
            </a:r>
            <a:r>
              <a:rPr lang="zh-CN" altLang="en-US" sz="2400" b="1"/>
              <a:t>3) ∨ (Q∧(N=</a:t>
            </a:r>
            <a:r>
              <a:rPr lang="en-US" altLang="zh-CN" sz="2400" b="1"/>
              <a:t>=</a:t>
            </a:r>
            <a:r>
              <a:rPr lang="zh-CN" altLang="en-US" sz="2400" b="1"/>
              <a:t>2))</a:t>
            </a:r>
            <a:endParaRPr lang="zh-CN" altLang="en-US" sz="1800"/>
          </a:p>
          <a:p>
            <a:pPr algn="l"/>
            <a:r>
              <a:rPr lang="zh-CN" altLang="en-US" sz="1800"/>
              <a:t>Q: present state of this cell (0/1)</a:t>
            </a:r>
            <a:endParaRPr lang="zh-CN" altLang="en-US" sz="1800"/>
          </a:p>
          <a:p>
            <a:pPr algn="l"/>
            <a:r>
              <a:rPr lang="zh-CN" altLang="en-US" sz="1800"/>
              <a:t>N: number of live neighbors (0–8)</a:t>
            </a:r>
            <a:br>
              <a:rPr lang="zh-CN" altLang="en-US" sz="1800"/>
            </a:br>
            <a:r>
              <a:rPr lang="zh-CN" altLang="en-US" sz="1800"/>
              <a:t>We use D flip-flops, so excitation = next state:D=Q</a:t>
            </a:r>
            <a:r>
              <a:rPr lang="en-US" altLang="zh-CN" sz="1800" baseline="30000"/>
              <a:t>+</a:t>
            </a:r>
            <a:br>
              <a:rPr lang="zh-CN" altLang="en-US" sz="1800"/>
            </a:br>
            <a:r>
              <a:rPr lang="zh-CN" altLang="en-US" sz="1800"/>
              <a:t>The output can be taken as</a:t>
            </a:r>
            <a:r>
              <a:rPr lang="en-US" altLang="zh-CN" sz="1800"/>
              <a:t> </a:t>
            </a:r>
            <a:r>
              <a:rPr lang="zh-CN" altLang="en-US" sz="1800"/>
              <a:t>Y=Q(Moore style).</a:t>
            </a:r>
            <a:br>
              <a:rPr lang="zh-CN" altLang="en-US" sz="1800"/>
            </a:br>
            <a:r>
              <a:rPr lang="zh-CN" altLang="en-US" sz="1800"/>
              <a:t>Neighbor bits come from the current board state </a:t>
            </a:r>
            <a:endParaRPr lang="zh-CN" altLang="en-US" sz="1800"/>
          </a:p>
          <a:p>
            <a:pPr algn="l"/>
            <a:r>
              <a:rPr lang="zh-CN" altLang="en-US" sz="1800"/>
              <a:t>Q, so no extra external X is required (beyond optional EN/LOAD/RST).</a:t>
            </a:r>
            <a:endParaRPr lang="zh-CN" altLang="en-US" sz="1800"/>
          </a:p>
          <a:p>
            <a:pPr algn="l"/>
            <a:r>
              <a:rPr lang="zh-CN" altLang="en-US" sz="2400" b="1"/>
              <a:t>Abstract CL block (per cell)</a:t>
            </a:r>
            <a:endParaRPr lang="zh-CN" altLang="en-US" sz="2400" b="1"/>
          </a:p>
          <a:p>
            <a:pPr algn="l"/>
            <a:r>
              <a:rPr lang="zh-CN" altLang="en-US" sz="1800"/>
              <a:t>Inputs (9): 8 neighbor bits and the cells own Q</a:t>
            </a:r>
            <a:endParaRPr lang="zh-CN" altLang="en-US" sz="1800"/>
          </a:p>
          <a:p>
            <a:pPr algn="l"/>
            <a:r>
              <a:rPr lang="zh-CN" altLang="en-US" sz="2000"/>
              <a:t>CL function:compute</a:t>
            </a:r>
            <a:r>
              <a:rPr lang="en-US" altLang="zh-CN" sz="2000"/>
              <a:t> N=∑n</a:t>
            </a:r>
            <a:r>
              <a:rPr lang="en-US" altLang="zh-CN" sz="1400"/>
              <a:t>k </a:t>
            </a:r>
            <a:r>
              <a:rPr lang="en-US" altLang="zh-CN"/>
              <a:t>compare with 2 and 3, then </a:t>
            </a:r>
            <a:r>
              <a:rPr lang="zh-CN" altLang="en-US">
                <a:sym typeface="+mn-ea"/>
              </a:rPr>
              <a:t>E=(N=3) ∨ (Q∧(N=2))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Output:</a:t>
            </a:r>
            <a:r>
              <a:rPr lang="en-US" altLang="zh-CN">
                <a:sym typeface="+mn-ea"/>
              </a:rPr>
              <a:t> Y=Q.</a:t>
            </a:r>
            <a:endParaRPr lang="en-US" altLang="zh-CN">
              <a:sym typeface="+mn-ea"/>
            </a:endParaRPr>
          </a:p>
          <a:p>
            <a:pPr algn="l"/>
            <a:r>
              <a:rPr lang="en-US" altLang="zh-CN"/>
              <a:t>Initialization</a:t>
            </a:r>
            <a:endParaRPr lang="en-US" altLang="zh-CN"/>
          </a:p>
          <a:p>
            <a:pPr algn="l"/>
            <a:r>
              <a:rPr lang="en-US" altLang="zh-CN"/>
              <a:t>Set each cell’s register to an initial pattern Q</a:t>
            </a:r>
            <a:r>
              <a:rPr lang="en-US" altLang="zh-CN" sz="1400"/>
              <a:t>init</a:t>
            </a:r>
            <a:r>
              <a:rPr lang="en-US" altLang="zh-CN"/>
              <a:t>power-up init or one-shot LOAD). Then tick the clock to evolve.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9403715" y="69469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https://conwaylife.com/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432550" y="1063625"/>
            <a:ext cx="5464810" cy="40392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016240" y="52597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Conbinantional Logic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0" y="0"/>
            <a:ext cx="8413750" cy="1308735"/>
          </a:xfrm>
        </p:spPr>
        <p:txBody>
          <a:bodyPr/>
          <a:p>
            <a:pPr algn="l"/>
            <a:r>
              <a:rPr lang="en-US" altLang="zh-CN"/>
              <a:t>    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208280" y="295275"/>
            <a:ext cx="111658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Application: Conway’s Game of Life</a:t>
            </a:r>
            <a:endParaRPr lang="zh-CN" altLang="en-US" sz="4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403715" y="69469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https://conwaylife.com/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835775" y="1063625"/>
            <a:ext cx="4805045" cy="54984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310120" y="65627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Logic and memory of a cell</a:t>
            </a:r>
            <a:endParaRPr lang="en-US" altLang="zh-CN"/>
          </a:p>
        </p:txBody>
      </p:sp>
      <p:sp>
        <p:nvSpPr>
          <p:cNvPr id="39" name="矩形 38"/>
          <p:cNvSpPr/>
          <p:nvPr>
            <p:custDataLst>
              <p:tags r:id="rId4"/>
            </p:custDataLst>
          </p:nvPr>
        </p:nvSpPr>
        <p:spPr>
          <a:xfrm>
            <a:off x="2650490" y="1520190"/>
            <a:ext cx="1748790" cy="11404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0" cmpd="sng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箭头连接符 39"/>
          <p:cNvCxnSpPr/>
          <p:nvPr>
            <p:custDataLst>
              <p:tags r:id="rId5"/>
            </p:custDataLst>
          </p:nvPr>
        </p:nvCxnSpPr>
        <p:spPr>
          <a:xfrm>
            <a:off x="1325245" y="1978660"/>
            <a:ext cx="120142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>
            <p:custDataLst>
              <p:tags r:id="rId6"/>
            </p:custDataLst>
          </p:nvPr>
        </p:nvSpPr>
        <p:spPr>
          <a:xfrm>
            <a:off x="468630" y="1520190"/>
            <a:ext cx="1920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input (8data)</a:t>
            </a:r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7"/>
            </p:custDataLst>
          </p:nvPr>
        </p:nvSpPr>
        <p:spPr>
          <a:xfrm>
            <a:off x="3147695" y="1003300"/>
            <a:ext cx="978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</a:t>
            </a:r>
            <a:endParaRPr lang="en-US" altLang="zh-CN"/>
          </a:p>
        </p:txBody>
      </p:sp>
      <p:cxnSp>
        <p:nvCxnSpPr>
          <p:cNvPr id="44" name="直接箭头连接符 43"/>
          <p:cNvCxnSpPr/>
          <p:nvPr>
            <p:custDataLst>
              <p:tags r:id="rId8"/>
            </p:custDataLst>
          </p:nvPr>
        </p:nvCxnSpPr>
        <p:spPr>
          <a:xfrm>
            <a:off x="4546600" y="1706245"/>
            <a:ext cx="45847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>
            <p:custDataLst>
              <p:tags r:id="rId9"/>
            </p:custDataLst>
          </p:nvPr>
        </p:nvSpPr>
        <p:spPr>
          <a:xfrm>
            <a:off x="5190490" y="1577340"/>
            <a:ext cx="18345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output data Qout</a:t>
            </a:r>
            <a:endParaRPr lang="en-US" altLang="zh-CN"/>
          </a:p>
        </p:txBody>
      </p:sp>
      <p:cxnSp>
        <p:nvCxnSpPr>
          <p:cNvPr id="47" name="直接连接符 46"/>
          <p:cNvCxnSpPr/>
          <p:nvPr>
            <p:custDataLst>
              <p:tags r:id="rId10"/>
            </p:custDataLst>
          </p:nvPr>
        </p:nvCxnSpPr>
        <p:spPr>
          <a:xfrm>
            <a:off x="4398010" y="2331085"/>
            <a:ext cx="1362710" cy="1555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>
            <p:custDataLst>
              <p:tags r:id="rId11"/>
            </p:custDataLst>
          </p:nvPr>
        </p:nvCxnSpPr>
        <p:spPr>
          <a:xfrm flipH="1">
            <a:off x="5757545" y="2486660"/>
            <a:ext cx="3175" cy="1397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>
            <p:custDataLst>
              <p:tags r:id="rId12"/>
            </p:custDataLst>
          </p:nvPr>
        </p:nvCxnSpPr>
        <p:spPr>
          <a:xfrm flipV="1">
            <a:off x="4546600" y="3883660"/>
            <a:ext cx="121412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>
            <p:custDataLst>
              <p:tags r:id="rId13"/>
            </p:custDataLst>
          </p:nvPr>
        </p:nvSpPr>
        <p:spPr>
          <a:xfrm>
            <a:off x="2797810" y="3326130"/>
            <a:ext cx="1748790" cy="11404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0" cmpd="sng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spc="2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memory</a:t>
            </a:r>
            <a:endParaRPr lang="en-US" altLang="zh-CN" b="1" spc="2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br>
              <a:rPr lang="en-US" altLang="zh-CN" b="1" spc="2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zh-CN" b="1" spc="2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1bit</a:t>
            </a:r>
            <a:endParaRPr lang="en-US" altLang="zh-CN" b="1" spc="2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51" name="直接连接符 50"/>
          <p:cNvCxnSpPr/>
          <p:nvPr>
            <p:custDataLst>
              <p:tags r:id="rId14"/>
            </p:custDataLst>
          </p:nvPr>
        </p:nvCxnSpPr>
        <p:spPr>
          <a:xfrm flipH="1">
            <a:off x="1543685" y="2613660"/>
            <a:ext cx="3175" cy="1397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>
            <p:custDataLst>
              <p:tags r:id="rId15"/>
            </p:custDataLst>
          </p:nvPr>
        </p:nvCxnSpPr>
        <p:spPr>
          <a:xfrm flipV="1">
            <a:off x="1521460" y="4008120"/>
            <a:ext cx="121412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>
            <p:custDataLst>
              <p:tags r:id="rId16"/>
            </p:custDataLst>
          </p:nvPr>
        </p:nvCxnSpPr>
        <p:spPr>
          <a:xfrm flipH="1">
            <a:off x="3635375" y="4466590"/>
            <a:ext cx="3175" cy="4178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>
            <p:custDataLst>
              <p:tags r:id="rId17"/>
            </p:custDataLst>
          </p:nvPr>
        </p:nvSpPr>
        <p:spPr>
          <a:xfrm>
            <a:off x="3340100" y="4884420"/>
            <a:ext cx="593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clk</a:t>
            </a:r>
            <a:endParaRPr lang="en-US" altLang="zh-CN"/>
          </a:p>
        </p:txBody>
      </p:sp>
      <p:cxnSp>
        <p:nvCxnSpPr>
          <p:cNvPr id="56" name="直接连接符 55"/>
          <p:cNvCxnSpPr/>
          <p:nvPr>
            <p:custDataLst>
              <p:tags r:id="rId18"/>
            </p:custDataLst>
          </p:nvPr>
        </p:nvCxnSpPr>
        <p:spPr>
          <a:xfrm flipV="1">
            <a:off x="1521460" y="1699260"/>
            <a:ext cx="3025140" cy="8909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2214880" y="2701925"/>
            <a:ext cx="2875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ym typeface="+mn-ea"/>
              </a:rPr>
              <a:t>E=(N=</a:t>
            </a:r>
            <a:r>
              <a:rPr lang="en-US" altLang="zh-CN" b="1">
                <a:sym typeface="+mn-ea"/>
              </a:rPr>
              <a:t>=</a:t>
            </a:r>
            <a:r>
              <a:rPr lang="zh-CN" altLang="en-US" b="1">
                <a:sym typeface="+mn-ea"/>
              </a:rPr>
              <a:t>3) ∨ (Q∧(N=</a:t>
            </a:r>
            <a:r>
              <a:rPr lang="en-US" altLang="zh-CN" b="1">
                <a:sym typeface="+mn-ea"/>
              </a:rPr>
              <a:t>=</a:t>
            </a:r>
            <a:r>
              <a:rPr lang="zh-CN" altLang="en-US" b="1">
                <a:sym typeface="+mn-ea"/>
              </a:rPr>
              <a:t>2))</a:t>
            </a:r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5190490" y="4011295"/>
            <a:ext cx="1090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1/0</a:t>
            </a:r>
            <a:endParaRPr lang="en-US" altLang="zh-CN"/>
          </a:p>
        </p:txBody>
      </p:sp>
    </p:spTree>
    <p:custDataLst>
      <p:tags r:id="rId19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0" y="0"/>
            <a:ext cx="8413750" cy="1308735"/>
          </a:xfrm>
        </p:spPr>
        <p:txBody>
          <a:bodyPr/>
          <a:p>
            <a:pPr algn="l"/>
            <a:r>
              <a:rPr lang="en-US" altLang="zh-CN"/>
              <a:t>    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208280" y="295275"/>
            <a:ext cx="111658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Application: Conway’s Game of Life</a:t>
            </a:r>
            <a:endParaRPr lang="zh-CN" altLang="en-US" sz="4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403715" y="69469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https://conwaylife.com/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28015" y="1210310"/>
            <a:ext cx="54686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map sturcture here is a 3*3 small map</a:t>
            </a:r>
            <a:endParaRPr lang="en-US" altLang="zh-CN" sz="2400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07975" y="1677035"/>
            <a:ext cx="5613400" cy="504761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762115" y="1548765"/>
            <a:ext cx="522160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https://github.com/solomon0256/Game-of-Life-circuit-MATLAB-sim</a:t>
            </a:r>
            <a:endParaRPr lang="zh-CN" altLang="en-US" sz="2400"/>
          </a:p>
        </p:txBody>
      </p:sp>
      <p:sp>
        <p:nvSpPr>
          <p:cNvPr id="13" name="文本框 12"/>
          <p:cNvSpPr txBox="1"/>
          <p:nvPr/>
        </p:nvSpPr>
        <p:spPr>
          <a:xfrm>
            <a:off x="8030210" y="11080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result in</a:t>
            </a:r>
            <a:endParaRPr lang="en-US" altLang="zh-CN" b="1"/>
          </a:p>
        </p:txBody>
      </p:sp>
      <p:sp>
        <p:nvSpPr>
          <p:cNvPr id="14" name="文本框 13"/>
          <p:cNvSpPr txBox="1"/>
          <p:nvPr/>
        </p:nvSpPr>
        <p:spPr>
          <a:xfrm>
            <a:off x="5921375" y="2378710"/>
            <a:ext cx="657352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So far, we have: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Defined synchronous sequential circuits and why they matter.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Introduced the core structure (Combinational Logic + Flip-Flops + Clock).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Clarified key characteristics (free-running logic, edge-defined validity, input timing constraints, predictable state evolution, reset).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Built examples (register, shift register, counter).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Extended to an application (Game of Life cell update rule) and implemented the CL logic + storage for a single cell, then connected them in a 3×3 grid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0" y="0"/>
            <a:ext cx="8413750" cy="1308735"/>
          </a:xfrm>
        </p:spPr>
        <p:txBody>
          <a:bodyPr/>
          <a:p>
            <a:pPr algn="l"/>
            <a:r>
              <a:rPr lang="en-US" altLang="zh-CN"/>
              <a:t>    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878840" y="1732280"/>
            <a:ext cx="990219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What comes next</a:t>
            </a:r>
            <a:endParaRPr lang="zh-CN" altLang="en-US" sz="5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sz="5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36040" y="2933700"/>
            <a:ext cx="9565640" cy="21405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/>
          </a:p>
          <a:p>
            <a:r>
              <a:rPr lang="zh-CN" altLang="en-US" sz="2400" b="1"/>
              <a:t>Next, the focus is on analysis methods </a:t>
            </a:r>
            <a:endParaRPr lang="zh-CN" altLang="en-US" sz="2400" b="1"/>
          </a:p>
          <a:p>
            <a:endParaRPr lang="zh-CN" altLang="en-US" sz="2400" b="1"/>
          </a:p>
          <a:p>
            <a:r>
              <a:rPr lang="zh-CN" altLang="en-US" sz="2400" b="1"/>
              <a:t>In design so far, we only showed what the structure is and how to build it. The next step is to learn how to analyze its behavior systematically.</a:t>
            </a:r>
            <a:endParaRPr lang="zh-CN" altLang="en-US" sz="2400" b="1"/>
          </a:p>
        </p:txBody>
      </p:sp>
      <p:sp>
        <p:nvSpPr>
          <p:cNvPr id="7" name="文本框 6"/>
          <p:cNvSpPr txBox="1"/>
          <p:nvPr/>
        </p:nvSpPr>
        <p:spPr>
          <a:xfrm>
            <a:off x="7228205" y="55105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고마워요~ (＾▽＾)ノ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3.xml><?xml version="1.0" encoding="utf-8"?>
<p:tagLst xmlns:p="http://schemas.openxmlformats.org/presentationml/2006/main">
  <p:tag name="COMMONDATA" val="eyJoZGlkIjoiNDExMzE1YzAyZDQ1ZThlZDFkMTg0YTlmNmI5MmQ3ZDU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7699</Words>
  <Application>WPS 演示</Application>
  <PresentationFormat>宽屏</PresentationFormat>
  <Paragraphs>287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Times New Roman</vt:lpstr>
      <vt:lpstr>微软雅黑</vt:lpstr>
      <vt:lpstr>BatangChe</vt:lpstr>
      <vt:lpstr>Arial Unicode MS</vt:lpstr>
      <vt:lpstr>Calibri</vt:lpstr>
      <vt:lpstr>Office 主题​​</vt:lpstr>
      <vt:lpstr>    </vt:lpstr>
      <vt:lpstr>    </vt:lpstr>
      <vt:lpstr>    </vt:lpstr>
      <vt:lpstr>    </vt:lpstr>
      <vt:lpstr>    </vt:lpstr>
      <vt:lpstr>    </vt:lpstr>
      <vt:lpstr>    </vt:lpstr>
      <vt:lpstr>PowerPoint 演示文稿</vt:lpstr>
      <vt:lpstr>PowerPoint 演示文稿</vt:lpstr>
      <vt:lpstr>    </vt:lpstr>
      <vt:lpstr>    </vt:lpstr>
      <vt:lpstr>    </vt:lpstr>
      <vt:lpstr>    </vt:lpstr>
      <vt:lpstr>  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SoLoMoN</cp:lastModifiedBy>
  <cp:revision>156</cp:revision>
  <dcterms:created xsi:type="dcterms:W3CDTF">2019-06-19T02:08:00Z</dcterms:created>
  <dcterms:modified xsi:type="dcterms:W3CDTF">2025-09-14T10:36:58Z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2052-11.1.0.14227</vt:lpwstr>
  </property>
  <property fmtid="{D5CDD505-2E9C-101B-9397-08002B2CF9AE}" pid="3" name="ICV">
    <vt:lpwstr>826613F047A24ECFBFB89D54B48E89FE_11</vt:lpwstr>
  </property>
</Properties>
</file>